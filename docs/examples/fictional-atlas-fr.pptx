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Synthèse du projet Atlas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Synthèse exécutive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Décisions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Décisions (suite)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Décisions (suite)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Décisions (suite)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Décisions (suite)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Comparaison des charges du périmètre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Périmètre et changements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Périmètre et changements (suite)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Périmètre et changements (suite)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Périmètre et changements (suite)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Périmètre et changements (suite)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Périmètre et changements (suite)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Périmètre et changements (suite)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Refinement des stories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Refinement des stories (suite)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Refinement des stories (suite)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Refinement des stories (suite)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Refinement des stories (suite)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Refinement des stories (suite)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Relations renseignées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Relations renseignées (suite)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Points d’attention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Points d’attention (suite)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Points d’attention (suite)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Arbitrages et prochaines actions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Arbitrages et prochaines actions (suite)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61257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1</a:t>
            </a:r>
            <a:endParaRPr lang="fr-FR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1796143"/>
            <a:ext cx="1079862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27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Synthèse du projet Atlas</a:t>
            </a:r>
            <a:endParaRPr lang="fr-FR" sz="2743" dirty="0"/>
          </a:p>
        </p:txBody>
      </p:sp>
      <p:sp>
        <p:nvSpPr>
          <p:cNvPr id="6" name="Text 4"/>
          <p:cNvSpPr/>
          <p:nvPr/>
        </p:nvSpPr>
        <p:spPr>
          <a:xfrm>
            <a:off x="696686" y="2436223"/>
            <a:ext cx="1079862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371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Example</a:t>
            </a:r>
            <a:endParaRPr lang="fr-FR" sz="1371" dirty="0"/>
          </a:p>
        </p:txBody>
      </p:sp>
      <p:sp>
        <p:nvSpPr>
          <p:cNvPr id="7" name="Text 5"/>
          <p:cNvSpPr/>
          <p:nvPr/>
        </p:nvSpPr>
        <p:spPr>
          <a:xfrm>
            <a:off x="696686" y="2838994"/>
            <a:ext cx="1079862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371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</a:t>
            </a:r>
            <a:endParaRPr lang="fr-FR" sz="1371" dirty="0"/>
          </a:p>
        </p:txBody>
      </p:sp>
      <p:sp>
        <p:nvSpPr>
          <p:cNvPr id="8" name="Text 6"/>
          <p:cNvSpPr/>
          <p:nvPr/>
        </p:nvSpPr>
        <p:spPr>
          <a:xfrm>
            <a:off x="696686" y="3241766"/>
            <a:ext cx="1079862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371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de projet</a:t>
            </a:r>
            <a:endParaRPr lang="fr-FR" sz="1371" dirty="0"/>
          </a:p>
        </p:txBody>
      </p:sp>
      <p:sp>
        <p:nvSpPr>
          <p:cNvPr id="9" name="Text 7"/>
          <p:cNvSpPr/>
          <p:nvPr/>
        </p:nvSpPr>
        <p:spPr>
          <a:xfrm>
            <a:off x="696686" y="3644537"/>
            <a:ext cx="1079862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371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15/10/2026</a:t>
            </a:r>
            <a:endParaRPr lang="fr-FR" sz="1371" dirty="0"/>
          </a:p>
        </p:txBody>
      </p:sp>
      <p:sp>
        <p:nvSpPr>
          <p:cNvPr id="10" name="Text 8"/>
          <p:cNvSpPr/>
          <p:nvPr/>
        </p:nvSpPr>
        <p:spPr>
          <a:xfrm>
            <a:off x="696686" y="4047308"/>
            <a:ext cx="1079862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371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d’exemple fictives</a:t>
            </a:r>
            <a:endParaRPr lang="fr-FR" sz="1371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686" y="609600"/>
            <a:ext cx="1741714" cy="4644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2</a:t>
            </a:r>
            <a:endParaRPr lang="fr-FR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Synthèse exécutive</a:t>
            </a:r>
            <a:endParaRPr lang="fr-FR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Atlas customer portal</a:t>
            </a:r>
            <a:endParaRPr lang="fr-FR" sz="1971" dirty="0"/>
          </a:p>
        </p:txBody>
      </p:sp>
      <p:sp>
        <p:nvSpPr>
          <p:cNvPr id="7" name="Text 5"/>
          <p:cNvSpPr/>
          <p:nvPr/>
        </p:nvSpPr>
        <p:spPr>
          <a:xfrm>
            <a:off x="696686" y="1734639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2709e3d6-b9df-4970-9f0a-fb6f872745db</a:t>
            </a:r>
            <a:endParaRPr lang="fr-FR" sz="857" dirty="0"/>
          </a:p>
        </p:txBody>
      </p:sp>
      <p:sp>
        <p:nvSpPr>
          <p:cNvPr id="8" name="Text 6"/>
          <p:cNvSpPr/>
          <p:nvPr/>
        </p:nvSpPr>
        <p:spPr>
          <a:xfrm>
            <a:off x="696686" y="200133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Fiches sélectionnées</a:t>
            </a:r>
            <a:endParaRPr lang="fr-FR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170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décisions · 3 changements · 2 stories</a:t>
            </a:r>
            <a:endParaRPr lang="fr-FR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74156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</a:t>
            </a:r>
            <a:endParaRPr lang="fr-FR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05725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de projet</a:t>
            </a:r>
            <a:endParaRPr lang="fr-FR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48179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fr-FR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79748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traceable review of the fictional Atlas project.</a:t>
            </a:r>
            <a:endParaRPr lang="fr-FR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2220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Période de référence</a:t>
            </a:r>
            <a:endParaRPr lang="fr-FR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53771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Toutes dates / Toutes dates</a:t>
            </a:r>
            <a:endParaRPr lang="fr-FR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496225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 des données</a:t>
            </a:r>
            <a:endParaRPr lang="fr-FR" sz="1714" dirty="0"/>
          </a:p>
        </p:txBody>
      </p:sp>
      <p:sp>
        <p:nvSpPr>
          <p:cNvPr id="17" name="Text 15"/>
          <p:cNvSpPr/>
          <p:nvPr/>
        </p:nvSpPr>
        <p:spPr>
          <a:xfrm>
            <a:off x="696686" y="527793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d’exemple fictives</a:t>
            </a:r>
            <a:endParaRPr lang="fr-FR" sz="171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3</a:t>
            </a:r>
            <a:endParaRPr lang="fr-FR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Décisions</a:t>
            </a:r>
            <a:endParaRPr lang="fr-FR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data exports self-service</a:t>
            </a:r>
            <a:endParaRPr lang="fr-FR" sz="1971" dirty="0"/>
          </a:p>
        </p:txBody>
      </p:sp>
      <p:sp>
        <p:nvSpPr>
          <p:cNvPr id="7" name="Text 5"/>
          <p:cNvSpPr/>
          <p:nvPr/>
        </p:nvSpPr>
        <p:spPr>
          <a:xfrm>
            <a:off x="696686" y="1734639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738b066a-a2c2-4b26-a44e-6eed637dd041</a:t>
            </a:r>
            <a:endParaRPr lang="fr-FR" sz="857" dirty="0"/>
          </a:p>
        </p:txBody>
      </p:sp>
      <p:sp>
        <p:nvSpPr>
          <p:cNvPr id="8" name="Text 6"/>
          <p:cNvSpPr/>
          <p:nvPr/>
        </p:nvSpPr>
        <p:spPr>
          <a:xfrm>
            <a:off x="696686" y="200133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</a:t>
            </a:r>
            <a:endParaRPr lang="fr-FR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170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</a:t>
            </a:r>
            <a:endParaRPr lang="fr-FR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74156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</a:t>
            </a:r>
            <a:endParaRPr lang="fr-FR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05725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Morgan (fictional)</a:t>
            </a:r>
            <a:endParaRPr lang="fr-FR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48179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de décision</a:t>
            </a:r>
            <a:endParaRPr lang="fr-FR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79748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15/10/2026</a:t>
            </a:r>
            <a:endParaRPr lang="fr-FR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2220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et problème</a:t>
            </a:r>
            <a:endParaRPr lang="fr-FR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53771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currently prepares account exports manually.</a:t>
            </a:r>
            <a:endParaRPr lang="fr-FR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485339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need a repeatable way to retrieve their own</a:t>
            </a:r>
            <a:endParaRPr lang="fr-FR" sz="1714" dirty="0"/>
          </a:p>
        </p:txBody>
      </p:sp>
      <p:sp>
        <p:nvSpPr>
          <p:cNvPr id="17" name="Text 15"/>
          <p:cNvSpPr/>
          <p:nvPr/>
        </p:nvSpPr>
        <p:spPr>
          <a:xfrm>
            <a:off x="696686" y="516908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records.</a:t>
            </a:r>
            <a:endParaRPr lang="fr-FR" sz="171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4</a:t>
            </a:r>
            <a:endParaRPr lang="fr-FR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Décisions (suite)</a:t>
            </a:r>
            <a:endParaRPr lang="fr-FR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retenue</a:t>
            </a:r>
            <a:endParaRPr lang="fr-FR" sz="1714" dirty="0"/>
          </a:p>
        </p:txBody>
      </p:sp>
      <p:sp>
        <p:nvSpPr>
          <p:cNvPr id="7" name="Text 5"/>
          <p:cNvSpPr/>
          <p:nvPr/>
        </p:nvSpPr>
        <p:spPr>
          <a:xfrm>
            <a:off x="696686" y="15893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CSV export from the account workspace.</a:t>
            </a:r>
            <a:endParaRPr lang="fr-FR" sz="1714" dirty="0"/>
          </a:p>
        </p:txBody>
      </p:sp>
      <p:sp>
        <p:nvSpPr>
          <p:cNvPr id="8" name="Text 6"/>
          <p:cNvSpPr/>
          <p:nvPr/>
        </p:nvSpPr>
        <p:spPr>
          <a:xfrm>
            <a:off x="696686" y="20138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Raisons du choix</a:t>
            </a:r>
            <a:endParaRPr lang="fr-FR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295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focused self-service flow addresses a recurring</a:t>
            </a:r>
            <a:endParaRPr lang="fr-FR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6452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without introducing a reporting platform.</a:t>
            </a:r>
            <a:endParaRPr lang="fr-FR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0697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Alternatives</a:t>
            </a:r>
            <a:endParaRPr lang="fr-FR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3854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support-assisted exports</a:t>
            </a:r>
            <a:endParaRPr lang="fr-FR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7011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Avantages: No implementation effort.</a:t>
            </a:r>
            <a:endParaRPr lang="fr-FR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01682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Inconvénients: Continued wait time and support effort.</a:t>
            </a:r>
            <a:endParaRPr lang="fr-FR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3325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fr-FR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464820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self-service CSV export</a:t>
            </a:r>
            <a:endParaRPr lang="fr-FR" sz="1714" dirty="0"/>
          </a:p>
        </p:txBody>
      </p:sp>
      <p:sp>
        <p:nvSpPr>
          <p:cNvPr id="17" name="Text 15"/>
          <p:cNvSpPr/>
          <p:nvPr/>
        </p:nvSpPr>
        <p:spPr>
          <a:xfrm>
            <a:off x="696686" y="496388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Avantages: Customers can retrieve records directly.</a:t>
            </a:r>
            <a:endParaRPr lang="fr-FR" sz="1714" dirty="0"/>
          </a:p>
        </p:txBody>
      </p:sp>
      <p:sp>
        <p:nvSpPr>
          <p:cNvPr id="18" name="Text 16"/>
          <p:cNvSpPr/>
          <p:nvPr/>
        </p:nvSpPr>
        <p:spPr>
          <a:xfrm>
            <a:off x="696686" y="52795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Inconvénients: Requires access-control and failure</a:t>
            </a:r>
            <a:endParaRPr lang="fr-FR" sz="1714" dirty="0"/>
          </a:p>
        </p:txBody>
      </p:sp>
      <p:sp>
        <p:nvSpPr>
          <p:cNvPr id="19" name="Text 17"/>
          <p:cNvSpPr/>
          <p:nvPr/>
        </p:nvSpPr>
        <p:spPr>
          <a:xfrm>
            <a:off x="696686" y="55952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handling.</a:t>
            </a:r>
            <a:endParaRPr lang="fr-FR" sz="171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5</a:t>
            </a:r>
            <a:endParaRPr lang="fr-FR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Décisions (suite)</a:t>
            </a:r>
            <a:endParaRPr lang="fr-FR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Hypothèses</a:t>
            </a:r>
            <a:endParaRPr lang="fr-FR" sz="1714" dirty="0"/>
          </a:p>
        </p:txBody>
      </p:sp>
      <p:sp>
        <p:nvSpPr>
          <p:cNvPr id="7" name="Text 5"/>
          <p:cNvSpPr/>
          <p:nvPr/>
        </p:nvSpPr>
        <p:spPr>
          <a:xfrm>
            <a:off x="696686" y="15893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existing account model defines the accessible</a:t>
            </a:r>
            <a:endParaRPr lang="fr-FR" sz="1714" dirty="0"/>
          </a:p>
        </p:txBody>
      </p:sp>
      <p:sp>
        <p:nvSpPr>
          <p:cNvPr id="8" name="Text 6"/>
          <p:cNvSpPr/>
          <p:nvPr/>
        </p:nvSpPr>
        <p:spPr>
          <a:xfrm>
            <a:off x="696686" y="190500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scope.</a:t>
            </a:r>
            <a:endParaRPr lang="fr-FR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295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Contraintes</a:t>
            </a:r>
            <a:endParaRPr lang="fr-FR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6452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changes to the authorization model in this release.</a:t>
            </a:r>
            <a:endParaRPr lang="fr-FR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0697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Parties prenantes</a:t>
            </a:r>
            <a:endParaRPr lang="fr-FR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3854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Product, Engineering, Customer support</a:t>
            </a:r>
            <a:endParaRPr lang="fr-FR" sz="171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6</a:t>
            </a:r>
            <a:endParaRPr lang="fr-FR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Décisions (suite)</a:t>
            </a:r>
            <a:endParaRPr lang="fr-FR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the first release focused on desktop</a:t>
            </a:r>
            <a:endParaRPr lang="fr-FR" sz="1971" dirty="0"/>
          </a:p>
        </p:txBody>
      </p:sp>
      <p:sp>
        <p:nvSpPr>
          <p:cNvPr id="7" name="Text 5"/>
          <p:cNvSpPr/>
          <p:nvPr/>
        </p:nvSpPr>
        <p:spPr>
          <a:xfrm>
            <a:off x="696686" y="1636667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workflows</a:t>
            </a:r>
            <a:endParaRPr lang="fr-FR" sz="1971" dirty="0"/>
          </a:p>
        </p:txBody>
      </p:sp>
      <p:sp>
        <p:nvSpPr>
          <p:cNvPr id="8" name="Text 6"/>
          <p:cNvSpPr/>
          <p:nvPr/>
        </p:nvSpPr>
        <p:spPr>
          <a:xfrm>
            <a:off x="696686" y="2097677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39be1c40-2325-4913-b3d6-df76cd762673</a:t>
            </a:r>
            <a:endParaRPr lang="fr-FR" sz="857" dirty="0"/>
          </a:p>
        </p:txBody>
      </p:sp>
      <p:sp>
        <p:nvSpPr>
          <p:cNvPr id="9" name="Text 7"/>
          <p:cNvSpPr/>
          <p:nvPr/>
        </p:nvSpPr>
        <p:spPr>
          <a:xfrm>
            <a:off x="696686" y="236437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</a:t>
            </a:r>
            <a:endParaRPr lang="fr-FR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68006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fr-FR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10460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</a:t>
            </a:r>
            <a:endParaRPr lang="fr-FR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42029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Morgan (fictional)</a:t>
            </a:r>
            <a:endParaRPr lang="fr-FR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84483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de décision</a:t>
            </a:r>
            <a:endParaRPr lang="fr-FR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16052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15/10/2026</a:t>
            </a:r>
            <a:endParaRPr lang="fr-FR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58506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et problème</a:t>
            </a:r>
            <a:endParaRPr lang="fr-FR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490074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currently prepares account exports manually.</a:t>
            </a:r>
            <a:endParaRPr lang="fr-FR" sz="1714" dirty="0"/>
          </a:p>
        </p:txBody>
      </p:sp>
      <p:sp>
        <p:nvSpPr>
          <p:cNvPr id="17" name="Text 15"/>
          <p:cNvSpPr/>
          <p:nvPr/>
        </p:nvSpPr>
        <p:spPr>
          <a:xfrm>
            <a:off x="696686" y="521643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need a repeatable way to retrieve their own</a:t>
            </a:r>
            <a:endParaRPr lang="fr-FR" sz="1714" dirty="0"/>
          </a:p>
        </p:txBody>
      </p:sp>
      <p:sp>
        <p:nvSpPr>
          <p:cNvPr id="18" name="Text 16"/>
          <p:cNvSpPr/>
          <p:nvPr/>
        </p:nvSpPr>
        <p:spPr>
          <a:xfrm>
            <a:off x="696686" y="553212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records.</a:t>
            </a:r>
            <a:endParaRPr lang="fr-FR" sz="171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7</a:t>
            </a:r>
            <a:endParaRPr lang="fr-FR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Décisions (suite)</a:t>
            </a:r>
            <a:endParaRPr lang="fr-FR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retenue</a:t>
            </a:r>
            <a:endParaRPr lang="fr-FR" sz="1714" dirty="0"/>
          </a:p>
        </p:txBody>
      </p:sp>
      <p:sp>
        <p:nvSpPr>
          <p:cNvPr id="7" name="Text 5"/>
          <p:cNvSpPr/>
          <p:nvPr/>
        </p:nvSpPr>
        <p:spPr>
          <a:xfrm>
            <a:off x="696686" y="15893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renseigné</a:t>
            </a:r>
            <a:endParaRPr lang="fr-FR" sz="1714" dirty="0"/>
          </a:p>
        </p:txBody>
      </p:sp>
      <p:sp>
        <p:nvSpPr>
          <p:cNvPr id="8" name="Text 6"/>
          <p:cNvSpPr/>
          <p:nvPr/>
        </p:nvSpPr>
        <p:spPr>
          <a:xfrm>
            <a:off x="696686" y="20138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Raisons du choix</a:t>
            </a:r>
            <a:endParaRPr lang="fr-FR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295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the main workflow before expanding the release</a:t>
            </a:r>
            <a:endParaRPr lang="fr-FR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6452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scope.</a:t>
            </a:r>
            <a:endParaRPr lang="fr-FR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0697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Hypothèses</a:t>
            </a:r>
            <a:endParaRPr lang="fr-FR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3854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existing account model defines the accessible</a:t>
            </a:r>
            <a:endParaRPr lang="fr-FR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7011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scope.</a:t>
            </a:r>
            <a:endParaRPr lang="fr-FR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12568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Contraintes</a:t>
            </a:r>
            <a:endParaRPr lang="fr-FR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4413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changes to the authorization model in this release.</a:t>
            </a:r>
            <a:endParaRPr lang="fr-FR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48659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Parties prenantes</a:t>
            </a:r>
            <a:endParaRPr lang="fr-FR" sz="1714" dirty="0"/>
          </a:p>
        </p:txBody>
      </p:sp>
      <p:sp>
        <p:nvSpPr>
          <p:cNvPr id="17" name="Text 15"/>
          <p:cNvSpPr/>
          <p:nvPr/>
        </p:nvSpPr>
        <p:spPr>
          <a:xfrm>
            <a:off x="696686" y="518160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Product, Engineering, Customer support</a:t>
            </a:r>
            <a:endParaRPr lang="fr-FR" sz="171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6686" y="2351314"/>
            <a:ext cx="8638903" cy="348343"/>
          </a:xfrm>
          <a:prstGeom prst="rect">
            <a:avLst/>
          </a:prstGeom>
          <a:solidFill>
            <a:srgbClr val="1D4E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6686" y="3603171"/>
            <a:ext cx="10798628" cy="3483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8</a:t>
            </a:r>
            <a:endParaRPr lang="fr-FR" sz="857" dirty="0"/>
          </a:p>
        </p:txBody>
      </p:sp>
      <p:sp>
        <p:nvSpPr>
          <p:cNvPr id="7" name="Text 5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Comparaison des charges du périmètre</a:t>
            </a:r>
            <a:endParaRPr lang="fr-FR" sz="2143" dirty="0"/>
          </a:p>
        </p:txBody>
      </p:sp>
      <p:sp>
        <p:nvSpPr>
          <p:cNvPr id="8" name="Text 6"/>
          <p:cNvSpPr/>
          <p:nvPr/>
        </p:nvSpPr>
        <p:spPr>
          <a:xfrm>
            <a:off x="696686" y="19594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Référence: 16 jours-personnes</a:t>
            </a:r>
            <a:endParaRPr lang="fr-FR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321128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Actuel: 20 jours-personnes</a:t>
            </a:r>
            <a:endParaRPr lang="fr-FR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4811486"/>
            <a:ext cx="10798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029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Estimations renseignées, sans engagement de livraison.</a:t>
            </a:r>
            <a:endParaRPr lang="fr-FR" sz="1029" dirty="0"/>
          </a:p>
        </p:txBody>
      </p:sp>
      <p:sp>
        <p:nvSpPr>
          <p:cNvPr id="11" name="Text 9"/>
          <p:cNvSpPr/>
          <p:nvPr/>
        </p:nvSpPr>
        <p:spPr>
          <a:xfrm>
            <a:off x="696686" y="51598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Référence: a9d97d14-f048-449d-96ad-aff429de93f2. Fiches sources renseignées: 2.</a:t>
            </a:r>
            <a:endParaRPr lang="fr-FR" sz="85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9</a:t>
            </a:r>
            <a:endParaRPr lang="fr-FR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Périmètre et changements</a:t>
            </a:r>
            <a:endParaRPr lang="fr-FR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Référence v1</a:t>
            </a:r>
            <a:endParaRPr lang="fr-FR" sz="1971" dirty="0"/>
          </a:p>
        </p:txBody>
      </p:sp>
      <p:sp>
        <p:nvSpPr>
          <p:cNvPr id="7" name="Text 5"/>
          <p:cNvSpPr/>
          <p:nvPr/>
        </p:nvSpPr>
        <p:spPr>
          <a:xfrm>
            <a:off x="696686" y="1734639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a9d97d14-f048-449d-96ad-aff429de93f2, 457abfc4-6b5d-4fb7-8fa8-9fe59830a11c</a:t>
            </a:r>
            <a:endParaRPr lang="fr-FR" sz="857" dirty="0"/>
          </a:p>
        </p:txBody>
      </p:sp>
      <p:sp>
        <p:nvSpPr>
          <p:cNvPr id="8" name="Text 6"/>
          <p:cNvSpPr/>
          <p:nvPr/>
        </p:nvSpPr>
        <p:spPr>
          <a:xfrm>
            <a:off x="696686" y="200133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</a:t>
            </a:r>
            <a:endParaRPr lang="fr-FR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170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customers a reliable account workspace with clear</a:t>
            </a:r>
            <a:endParaRPr lang="fr-FR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63271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their own records.</a:t>
            </a:r>
            <a:endParaRPr lang="fr-FR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05725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</a:t>
            </a:r>
            <a:endParaRPr lang="fr-FR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37293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Figée</a:t>
            </a:r>
            <a:endParaRPr lang="fr-FR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79748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du calcul</a:t>
            </a:r>
            <a:endParaRPr lang="fr-FR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11316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situation inclut tous les changements acceptés pour</a:t>
            </a:r>
            <a:endParaRPr lang="fr-FR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42885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périmètre jusqu’à la date de fin. La sélection et la</a:t>
            </a:r>
            <a:endParaRPr lang="fr-FR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474453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de début filtrent le registre, pas la situation</a:t>
            </a:r>
            <a:endParaRPr lang="fr-FR" sz="1714" dirty="0"/>
          </a:p>
        </p:txBody>
      </p:sp>
      <p:sp>
        <p:nvSpPr>
          <p:cNvPr id="17" name="Text 15"/>
          <p:cNvSpPr/>
          <p:nvPr/>
        </p:nvSpPr>
        <p:spPr>
          <a:xfrm>
            <a:off x="696686" y="50602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calculée.</a:t>
            </a:r>
            <a:endParaRPr lang="fr-FR" sz="171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10</a:t>
            </a:r>
            <a:endParaRPr lang="fr-FR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Périmètre et changements (suite)</a:t>
            </a:r>
            <a:endParaRPr lang="fr-FR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initiale · estimation</a:t>
            </a:r>
            <a:endParaRPr lang="fr-FR" sz="1714" dirty="0"/>
          </a:p>
        </p:txBody>
      </p:sp>
      <p:sp>
        <p:nvSpPr>
          <p:cNvPr id="7" name="Text 5"/>
          <p:cNvSpPr/>
          <p:nvPr/>
        </p:nvSpPr>
        <p:spPr>
          <a:xfrm>
            <a:off x="696686" y="15893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jours-personnes</a:t>
            </a:r>
            <a:endParaRPr lang="fr-FR" sz="1714" dirty="0"/>
          </a:p>
        </p:txBody>
      </p:sp>
      <p:sp>
        <p:nvSpPr>
          <p:cNvPr id="8" name="Text 6"/>
          <p:cNvSpPr/>
          <p:nvPr/>
        </p:nvSpPr>
        <p:spPr>
          <a:xfrm>
            <a:off x="696686" y="20138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actuelle · estimation</a:t>
            </a:r>
            <a:endParaRPr lang="fr-FR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295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jours-personnes</a:t>
            </a:r>
            <a:endParaRPr lang="fr-FR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75408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Écart de charge · estimation</a:t>
            </a:r>
            <a:endParaRPr lang="fr-FR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0697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jours-personnes</a:t>
            </a:r>
            <a:endParaRPr lang="fr-FR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4943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deliverables</a:t>
            </a:r>
            <a:endParaRPr lang="fr-FR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81000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overview: 5 jours-personnes (must)</a:t>
            </a:r>
            <a:endParaRPr lang="fr-FR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12568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timeline: 8 jours-personnes (must)</a:t>
            </a:r>
            <a:endParaRPr lang="fr-FR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4413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settings: 3 jours-personnes (should)</a:t>
            </a:r>
            <a:endParaRPr lang="fr-FR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47570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CSV export: 4 jours-personnes (must)</a:t>
            </a:r>
            <a:endParaRPr lang="fr-FR" sz="1714" dirty="0"/>
          </a:p>
        </p:txBody>
      </p:sp>
      <p:sp>
        <p:nvSpPr>
          <p:cNvPr id="17" name="Text 15"/>
          <p:cNvSpPr/>
          <p:nvPr/>
        </p:nvSpPr>
        <p:spPr>
          <a:xfrm>
            <a:off x="696686" y="518160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Hypothèses</a:t>
            </a:r>
            <a:endParaRPr lang="fr-FR" sz="1714" dirty="0"/>
          </a:p>
        </p:txBody>
      </p:sp>
      <p:sp>
        <p:nvSpPr>
          <p:cNvPr id="18" name="Text 16"/>
          <p:cNvSpPr/>
          <p:nvPr/>
        </p:nvSpPr>
        <p:spPr>
          <a:xfrm>
            <a:off x="696686" y="549728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Estimates are fictional planning inputs, not delivery</a:t>
            </a:r>
            <a:endParaRPr lang="fr-FR" sz="171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11</a:t>
            </a:r>
            <a:endParaRPr lang="fr-FR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Périmètre et changements (suite)</a:t>
            </a:r>
            <a:endParaRPr lang="fr-FR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commitments.</a:t>
            </a:r>
            <a:endParaRPr lang="fr-FR" sz="1714" dirty="0"/>
          </a:p>
        </p:txBody>
      </p:sp>
      <p:sp>
        <p:nvSpPr>
          <p:cNvPr id="7" name="Text 5"/>
          <p:cNvSpPr/>
          <p:nvPr/>
        </p:nvSpPr>
        <p:spPr>
          <a:xfrm>
            <a:off x="696686" y="16981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Contraintes</a:t>
            </a:r>
            <a:endParaRPr lang="fr-FR" sz="1714" dirty="0"/>
          </a:p>
        </p:txBody>
      </p:sp>
      <p:sp>
        <p:nvSpPr>
          <p:cNvPr id="8" name="Text 6"/>
          <p:cNvSpPr/>
          <p:nvPr/>
        </p:nvSpPr>
        <p:spPr>
          <a:xfrm>
            <a:off x="696686" y="20138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release; existing account service.</a:t>
            </a:r>
            <a:endParaRPr lang="fr-FR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43840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d’attention</a:t>
            </a:r>
            <a:endParaRPr lang="fr-FR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75408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 documenté — Self-service CSV export : Confirm</a:t>
            </a:r>
            <a:endParaRPr lang="fr-FR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0697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maximum supported export size.</a:t>
            </a:r>
            <a:endParaRPr lang="fr-FR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733800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Self-service CSV export</a:t>
            </a:r>
            <a:endParaRPr lang="fr-FR" sz="1971" dirty="0"/>
          </a:p>
        </p:txBody>
      </p:sp>
      <p:sp>
        <p:nvSpPr>
          <p:cNvPr id="13" name="Text 11"/>
          <p:cNvSpPr/>
          <p:nvPr/>
        </p:nvSpPr>
        <p:spPr>
          <a:xfrm>
            <a:off x="696686" y="4194810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457abfc4-6b5d-4fb7-8fa8-9fe59830a11c, a9d97d14-f048-449d-96ad-aff429de93f2</a:t>
            </a:r>
            <a:endParaRPr lang="fr-FR" sz="857" dirty="0"/>
          </a:p>
        </p:txBody>
      </p:sp>
      <p:sp>
        <p:nvSpPr>
          <p:cNvPr id="14" name="Text 12"/>
          <p:cNvSpPr/>
          <p:nvPr/>
        </p:nvSpPr>
        <p:spPr>
          <a:xfrm>
            <a:off x="696686" y="446151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</a:t>
            </a:r>
            <a:endParaRPr lang="fr-FR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77719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</a:t>
            </a:r>
            <a:endParaRPr lang="fr-FR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520173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de changement</a:t>
            </a:r>
            <a:endParaRPr lang="fr-FR" sz="1714" dirty="0"/>
          </a:p>
        </p:txBody>
      </p:sp>
      <p:sp>
        <p:nvSpPr>
          <p:cNvPr id="17" name="Text 15"/>
          <p:cNvSpPr/>
          <p:nvPr/>
        </p:nvSpPr>
        <p:spPr>
          <a:xfrm>
            <a:off x="696686" y="55174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</a:t>
            </a:r>
            <a:endParaRPr lang="fr-FR" sz="171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12</a:t>
            </a:r>
            <a:endParaRPr lang="fr-FR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Périmètre et changements (suite)</a:t>
            </a:r>
            <a:endParaRPr lang="fr-FR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fr-FR" sz="1714" dirty="0"/>
          </a:p>
        </p:txBody>
      </p:sp>
      <p:sp>
        <p:nvSpPr>
          <p:cNvPr id="7" name="Text 5"/>
          <p:cNvSpPr/>
          <p:nvPr/>
        </p:nvSpPr>
        <p:spPr>
          <a:xfrm>
            <a:off x="696686" y="15893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 export action for customer account records.</a:t>
            </a:r>
            <a:endParaRPr lang="fr-FR" sz="1714" dirty="0"/>
          </a:p>
        </p:txBody>
      </p:sp>
      <p:sp>
        <p:nvSpPr>
          <p:cNvPr id="8" name="Text 6"/>
          <p:cNvSpPr/>
          <p:nvPr/>
        </p:nvSpPr>
        <p:spPr>
          <a:xfrm>
            <a:off x="696686" y="20138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Justification</a:t>
            </a:r>
            <a:endParaRPr lang="fr-FR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295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Implements the self-service export decision.</a:t>
            </a:r>
            <a:endParaRPr lang="fr-FR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75408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Demandé par</a:t>
            </a:r>
            <a:endParaRPr lang="fr-FR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0697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Chen (fictional)</a:t>
            </a:r>
            <a:endParaRPr lang="fr-FR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4943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renseignée</a:t>
            </a:r>
            <a:endParaRPr lang="fr-FR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81000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jours-personnes (valeur saisie)</a:t>
            </a:r>
            <a:endParaRPr lang="fr-FR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2345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Dépendances</a:t>
            </a:r>
            <a:endParaRPr lang="fr-FR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55022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overview</a:t>
            </a:r>
            <a:endParaRPr lang="fr-FR" sz="171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13</a:t>
            </a:r>
            <a:endParaRPr lang="fr-FR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Périmètre et changements (suite)</a:t>
            </a:r>
            <a:endParaRPr lang="fr-FR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Saved export presets</a:t>
            </a:r>
            <a:endParaRPr lang="fr-FR" sz="1971" dirty="0"/>
          </a:p>
        </p:txBody>
      </p:sp>
      <p:sp>
        <p:nvSpPr>
          <p:cNvPr id="7" name="Text 5"/>
          <p:cNvSpPr/>
          <p:nvPr/>
        </p:nvSpPr>
        <p:spPr>
          <a:xfrm>
            <a:off x="696686" y="1734639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3da8f527-d53b-4dc7-8fca-ca56bd6f6283, a9d97d14-f048-449d-96ad-aff429de93f2</a:t>
            </a:r>
            <a:endParaRPr lang="fr-FR" sz="857" dirty="0"/>
          </a:p>
        </p:txBody>
      </p:sp>
      <p:sp>
        <p:nvSpPr>
          <p:cNvPr id="8" name="Text 6"/>
          <p:cNvSpPr/>
          <p:nvPr/>
        </p:nvSpPr>
        <p:spPr>
          <a:xfrm>
            <a:off x="696686" y="200133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</a:t>
            </a:r>
            <a:endParaRPr lang="fr-FR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170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fr-FR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74156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de changement</a:t>
            </a:r>
            <a:endParaRPr lang="fr-FR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05725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</a:t>
            </a:r>
            <a:endParaRPr lang="fr-FR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48179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fr-FR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79748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customers save their export column selection.</a:t>
            </a:r>
            <a:endParaRPr lang="fr-FR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2220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Justification</a:t>
            </a:r>
            <a:endParaRPr lang="fr-FR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53771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follow-up for repeat exports.</a:t>
            </a:r>
            <a:endParaRPr lang="fr-FR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496225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Demandé par</a:t>
            </a:r>
            <a:endParaRPr lang="fr-FR" sz="1714" dirty="0"/>
          </a:p>
        </p:txBody>
      </p:sp>
      <p:sp>
        <p:nvSpPr>
          <p:cNvPr id="17" name="Text 15"/>
          <p:cNvSpPr/>
          <p:nvPr/>
        </p:nvSpPr>
        <p:spPr>
          <a:xfrm>
            <a:off x="696686" y="527793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Chen (fictional)</a:t>
            </a:r>
            <a:endParaRPr lang="fr-FR" sz="171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14</a:t>
            </a:r>
            <a:endParaRPr lang="fr-FR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Périmètre et changements (suite)</a:t>
            </a:r>
            <a:endParaRPr lang="fr-FR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renseignée</a:t>
            </a:r>
            <a:endParaRPr lang="fr-FR" sz="1714" dirty="0"/>
          </a:p>
        </p:txBody>
      </p:sp>
      <p:sp>
        <p:nvSpPr>
          <p:cNvPr id="7" name="Text 5"/>
          <p:cNvSpPr/>
          <p:nvPr/>
        </p:nvSpPr>
        <p:spPr>
          <a:xfrm>
            <a:off x="696686" y="15893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jours-personnes (valeur saisie)</a:t>
            </a:r>
            <a:endParaRPr lang="fr-FR" sz="1714" dirty="0"/>
          </a:p>
        </p:txBody>
      </p:sp>
      <p:sp>
        <p:nvSpPr>
          <p:cNvPr id="8" name="Text 6"/>
          <p:cNvSpPr/>
          <p:nvPr/>
        </p:nvSpPr>
        <p:spPr>
          <a:xfrm>
            <a:off x="696686" y="20138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Dépendances</a:t>
            </a:r>
            <a:endParaRPr lang="fr-FR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295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overview</a:t>
            </a:r>
            <a:endParaRPr lang="fr-FR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993571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reporting dashboard</a:t>
            </a:r>
            <a:endParaRPr lang="fr-FR" sz="1971" dirty="0"/>
          </a:p>
        </p:txBody>
      </p:sp>
      <p:sp>
        <p:nvSpPr>
          <p:cNvPr id="11" name="Text 9"/>
          <p:cNvSpPr/>
          <p:nvPr/>
        </p:nvSpPr>
        <p:spPr>
          <a:xfrm>
            <a:off x="696686" y="3454581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8ca5d728-3696-4827-b97d-1c6eb23a8b5f, a9d97d14-f048-449d-96ad-aff429de93f2</a:t>
            </a:r>
            <a:endParaRPr lang="fr-FR" sz="857" dirty="0"/>
          </a:p>
        </p:txBody>
      </p:sp>
      <p:sp>
        <p:nvSpPr>
          <p:cNvPr id="12" name="Text 10"/>
          <p:cNvSpPr/>
          <p:nvPr/>
        </p:nvSpPr>
        <p:spPr>
          <a:xfrm>
            <a:off x="696686" y="372128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</a:t>
            </a:r>
            <a:endParaRPr lang="fr-FR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403696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fr-FR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46151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de changement</a:t>
            </a:r>
            <a:endParaRPr lang="fr-FR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77719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</a:t>
            </a:r>
            <a:endParaRPr lang="fr-FR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520173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fr-FR" sz="1714" dirty="0"/>
          </a:p>
        </p:txBody>
      </p:sp>
      <p:sp>
        <p:nvSpPr>
          <p:cNvPr id="17" name="Text 15"/>
          <p:cNvSpPr/>
          <p:nvPr/>
        </p:nvSpPr>
        <p:spPr>
          <a:xfrm>
            <a:off x="696686" y="55174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configurable reporting dashboard.</a:t>
            </a:r>
            <a:endParaRPr lang="fr-FR" sz="171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15</a:t>
            </a:r>
            <a:endParaRPr lang="fr-FR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Périmètre et changements (suite)</a:t>
            </a:r>
            <a:endParaRPr lang="fr-FR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Justification</a:t>
            </a:r>
            <a:endParaRPr lang="fr-FR" sz="1714" dirty="0"/>
          </a:p>
        </p:txBody>
      </p:sp>
      <p:sp>
        <p:nvSpPr>
          <p:cNvPr id="7" name="Text 5"/>
          <p:cNvSpPr/>
          <p:nvPr/>
        </p:nvSpPr>
        <p:spPr>
          <a:xfrm>
            <a:off x="696686" y="15893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the focused first release.</a:t>
            </a:r>
            <a:endParaRPr lang="fr-FR" sz="1714" dirty="0"/>
          </a:p>
        </p:txBody>
      </p:sp>
      <p:sp>
        <p:nvSpPr>
          <p:cNvPr id="8" name="Text 6"/>
          <p:cNvSpPr/>
          <p:nvPr/>
        </p:nvSpPr>
        <p:spPr>
          <a:xfrm>
            <a:off x="696686" y="20138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Demandé par</a:t>
            </a:r>
            <a:endParaRPr lang="fr-FR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295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Chen (fictional)</a:t>
            </a:r>
            <a:endParaRPr lang="fr-FR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75408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renseignée</a:t>
            </a:r>
            <a:endParaRPr lang="fr-FR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0697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jours-personnes (valeur saisie)</a:t>
            </a:r>
            <a:endParaRPr lang="fr-FR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4943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Dépendances</a:t>
            </a:r>
            <a:endParaRPr lang="fr-FR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81000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overview</a:t>
            </a:r>
            <a:endParaRPr lang="fr-FR" sz="1714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16</a:t>
            </a:r>
            <a:endParaRPr lang="fr-FR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Refinement des stories</a:t>
            </a:r>
            <a:endParaRPr lang="fr-FR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 account records</a:t>
            </a:r>
            <a:endParaRPr lang="fr-FR" sz="1971" dirty="0"/>
          </a:p>
        </p:txBody>
      </p:sp>
      <p:sp>
        <p:nvSpPr>
          <p:cNvPr id="7" name="Text 5"/>
          <p:cNvSpPr/>
          <p:nvPr/>
        </p:nvSpPr>
        <p:spPr>
          <a:xfrm>
            <a:off x="696686" y="1734639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d149221e-de7d-4a9f-9ea1-6b08873731b0</a:t>
            </a:r>
            <a:endParaRPr lang="fr-FR" sz="857" dirty="0"/>
          </a:p>
        </p:txBody>
      </p:sp>
      <p:sp>
        <p:nvSpPr>
          <p:cNvPr id="8" name="Text 6"/>
          <p:cNvSpPr/>
          <p:nvPr/>
        </p:nvSpPr>
        <p:spPr>
          <a:xfrm>
            <a:off x="696686" y="200133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originale</a:t>
            </a:r>
            <a:endParaRPr lang="fr-FR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170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an account administrator, I want to export my</a:t>
            </a:r>
            <a:endParaRPr lang="fr-FR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63271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records easily, so that I can prepare internal</a:t>
            </a:r>
            <a:endParaRPr lang="fr-FR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294839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reports.</a:t>
            </a:r>
            <a:endParaRPr lang="fr-FR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37293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story</a:t>
            </a:r>
            <a:endParaRPr lang="fr-FR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6886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an account administrator, I want to export my</a:t>
            </a:r>
            <a:endParaRPr lang="fr-FR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00431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records easily, so that I can prepare internal</a:t>
            </a:r>
            <a:endParaRPr lang="fr-FR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31999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reports.</a:t>
            </a:r>
            <a:endParaRPr lang="fr-FR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474453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 / persona</a:t>
            </a:r>
            <a:endParaRPr lang="fr-FR" sz="1714" dirty="0"/>
          </a:p>
        </p:txBody>
      </p:sp>
      <p:sp>
        <p:nvSpPr>
          <p:cNvPr id="17" name="Text 15"/>
          <p:cNvSpPr/>
          <p:nvPr/>
        </p:nvSpPr>
        <p:spPr>
          <a:xfrm>
            <a:off x="696686" y="50602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administrator</a:t>
            </a:r>
            <a:endParaRPr lang="fr-FR" sz="171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17</a:t>
            </a:r>
            <a:endParaRPr lang="fr-FR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Refinement des stories (suite)</a:t>
            </a:r>
            <a:endParaRPr lang="fr-FR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Besoin</a:t>
            </a:r>
            <a:endParaRPr lang="fr-FR" sz="1714" dirty="0"/>
          </a:p>
        </p:txBody>
      </p:sp>
      <p:sp>
        <p:nvSpPr>
          <p:cNvPr id="7" name="Text 5"/>
          <p:cNvSpPr/>
          <p:nvPr/>
        </p:nvSpPr>
        <p:spPr>
          <a:xfrm>
            <a:off x="696686" y="15893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the records available in my account workspace.</a:t>
            </a:r>
            <a:endParaRPr lang="fr-FR" sz="1714" dirty="0"/>
          </a:p>
        </p:txBody>
      </p:sp>
      <p:sp>
        <p:nvSpPr>
          <p:cNvPr id="8" name="Text 6"/>
          <p:cNvSpPr/>
          <p:nvPr/>
        </p:nvSpPr>
        <p:spPr>
          <a:xfrm>
            <a:off x="696686" y="20138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 utilisateur</a:t>
            </a:r>
            <a:endParaRPr lang="fr-FR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295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internal reporting without waiting for support.</a:t>
            </a:r>
            <a:endParaRPr lang="fr-FR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75408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Critères d’acceptation</a:t>
            </a:r>
            <a:endParaRPr lang="fr-FR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0697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an authenticated account administrator with</a:t>
            </a:r>
            <a:endParaRPr lang="fr-FR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3854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records, when they request a CSV export,</a:t>
            </a:r>
            <a:endParaRPr lang="fr-FR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7011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a CSV file containing those records is downloaded.</a:t>
            </a:r>
            <a:endParaRPr lang="fr-FR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12568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ouvertes</a:t>
            </a:r>
            <a:endParaRPr lang="fr-FR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4413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easily » est subjectif et ne définit pas de seuil</a:t>
            </a:r>
            <a:endParaRPr lang="fr-FR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47570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observable. Quelle condition observable permettrait de</a:t>
            </a:r>
            <a:endParaRPr lang="fr-FR" sz="1714" dirty="0"/>
          </a:p>
        </p:txBody>
      </p:sp>
      <p:sp>
        <p:nvSpPr>
          <p:cNvPr id="17" name="Text 15"/>
          <p:cNvSpPr/>
          <p:nvPr/>
        </p:nvSpPr>
        <p:spPr>
          <a:xfrm>
            <a:off x="696686" y="50727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« easily » ? Convenez d’une attente mesurable.</a:t>
            </a:r>
            <a:endParaRPr lang="fr-FR" sz="1714" dirty="0"/>
          </a:p>
        </p:txBody>
      </p:sp>
      <p:sp>
        <p:nvSpPr>
          <p:cNvPr id="18" name="Text 16"/>
          <p:cNvSpPr/>
          <p:nvPr/>
        </p:nvSpPr>
        <p:spPr>
          <a:xfrm>
            <a:off x="696686" y="538842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condition d’erreur n’est mentionnée dans la</a:t>
            </a:r>
            <a:endParaRPr lang="fr-FR" sz="1714" dirty="0"/>
          </a:p>
        </p:txBody>
      </p:sp>
      <p:sp>
        <p:nvSpPr>
          <p:cNvPr id="19" name="Text 17"/>
          <p:cNvSpPr/>
          <p:nvPr/>
        </p:nvSpPr>
        <p:spPr>
          <a:xfrm>
            <a:off x="696686" y="57041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ou les critères. Quelles conditions d’échec sont</a:t>
            </a:r>
            <a:endParaRPr lang="fr-FR" sz="171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18</a:t>
            </a:r>
            <a:endParaRPr lang="fr-FR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Refinement des stories (suite)</a:t>
            </a:r>
            <a:endParaRPr lang="fr-FR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pertinentes, et quel retour faut-il donner à</a:t>
            </a:r>
            <a:endParaRPr lang="fr-FR" sz="1714" dirty="0"/>
          </a:p>
        </p:txBody>
      </p:sp>
      <p:sp>
        <p:nvSpPr>
          <p:cNvPr id="7" name="Text 5"/>
          <p:cNvSpPr/>
          <p:nvPr/>
        </p:nvSpPr>
        <p:spPr>
          <a:xfrm>
            <a:off x="696686" y="15893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l’utilisateur ?</a:t>
            </a:r>
            <a:endParaRPr lang="fr-FR" sz="1714" dirty="0"/>
          </a:p>
        </p:txBody>
      </p:sp>
      <p:sp>
        <p:nvSpPr>
          <p:cNvPr id="8" name="Text 6"/>
          <p:cNvSpPr/>
          <p:nvPr/>
        </p:nvSpPr>
        <p:spPr>
          <a:xfrm>
            <a:off x="696686" y="190500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cas d’absence de données n’est pas décrit. Que</a:t>
            </a:r>
            <a:endParaRPr lang="fr-FR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22068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doit-il se passer lorsqu’il n’y a aucune donnée à</a:t>
            </a:r>
            <a:endParaRPr lang="fr-FR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5363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exporter ?</a:t>
            </a:r>
            <a:endParaRPr lang="fr-FR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29609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Règles métier</a:t>
            </a:r>
            <a:endParaRPr lang="fr-FR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27660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existing account access permissions.</a:t>
            </a:r>
            <a:endParaRPr lang="fr-FR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7011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Contraintes</a:t>
            </a:r>
            <a:endParaRPr lang="fr-FR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01682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only for the first release.</a:t>
            </a:r>
            <a:endParaRPr lang="fr-FR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4413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Dépendances</a:t>
            </a:r>
            <a:endParaRPr lang="fr-FR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47570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overview and existing authorization rules.</a:t>
            </a:r>
            <a:endParaRPr lang="fr-FR" sz="171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19</a:t>
            </a:r>
            <a:endParaRPr lang="fr-FR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Refinement des stories (suite)</a:t>
            </a:r>
            <a:endParaRPr lang="fr-FR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 the activity timeline</a:t>
            </a:r>
            <a:endParaRPr lang="fr-FR" sz="1971" dirty="0"/>
          </a:p>
        </p:txBody>
      </p:sp>
      <p:sp>
        <p:nvSpPr>
          <p:cNvPr id="7" name="Text 5"/>
          <p:cNvSpPr/>
          <p:nvPr/>
        </p:nvSpPr>
        <p:spPr>
          <a:xfrm>
            <a:off x="696686" y="1734639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e6d12a12-320e-4f8f-9cbf-b79fb0dfc2ef</a:t>
            </a:r>
            <a:endParaRPr lang="fr-FR" sz="857" dirty="0"/>
          </a:p>
        </p:txBody>
      </p:sp>
      <p:sp>
        <p:nvSpPr>
          <p:cNvPr id="8" name="Text 6"/>
          <p:cNvSpPr/>
          <p:nvPr/>
        </p:nvSpPr>
        <p:spPr>
          <a:xfrm>
            <a:off x="696686" y="200133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originale</a:t>
            </a:r>
            <a:endParaRPr lang="fr-FR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170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an account administrator, I want a fast and</a:t>
            </a:r>
            <a:endParaRPr lang="fr-FR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63271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intuitive activity timeline.</a:t>
            </a:r>
            <a:endParaRPr lang="fr-FR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05725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story</a:t>
            </a:r>
            <a:endParaRPr lang="fr-FR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37293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an account administrator, I want a fast and</a:t>
            </a:r>
            <a:endParaRPr lang="fr-FR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6886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intuitive activity timeline.</a:t>
            </a:r>
            <a:endParaRPr lang="fr-FR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11316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 / persona</a:t>
            </a:r>
            <a:endParaRPr lang="fr-FR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42885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administrator</a:t>
            </a:r>
            <a:endParaRPr lang="fr-FR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485339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Besoin</a:t>
            </a:r>
            <a:endParaRPr lang="fr-FR" sz="1714" dirty="0"/>
          </a:p>
        </p:txBody>
      </p:sp>
      <p:sp>
        <p:nvSpPr>
          <p:cNvPr id="17" name="Text 15"/>
          <p:cNvSpPr/>
          <p:nvPr/>
        </p:nvSpPr>
        <p:spPr>
          <a:xfrm>
            <a:off x="696686" y="516908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account activity in chronological order.</a:t>
            </a:r>
            <a:endParaRPr lang="fr-FR" sz="1714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20</a:t>
            </a:r>
            <a:endParaRPr lang="fr-FR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Refinement des stories (suite)</a:t>
            </a:r>
            <a:endParaRPr lang="fr-FR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 utilisateur</a:t>
            </a:r>
            <a:endParaRPr lang="fr-FR" sz="1714" dirty="0"/>
          </a:p>
        </p:txBody>
      </p:sp>
      <p:sp>
        <p:nvSpPr>
          <p:cNvPr id="7" name="Text 5"/>
          <p:cNvSpPr/>
          <p:nvPr/>
        </p:nvSpPr>
        <p:spPr>
          <a:xfrm>
            <a:off x="696686" y="15893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recent updates.</a:t>
            </a:r>
            <a:endParaRPr lang="fr-FR" sz="1714" dirty="0"/>
          </a:p>
        </p:txBody>
      </p:sp>
      <p:sp>
        <p:nvSpPr>
          <p:cNvPr id="8" name="Text 6"/>
          <p:cNvSpPr/>
          <p:nvPr/>
        </p:nvSpPr>
        <p:spPr>
          <a:xfrm>
            <a:off x="696686" y="20138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ouvertes</a:t>
            </a:r>
            <a:endParaRPr lang="fr-FR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295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fast » est subjectif et ne définit pas de seuil</a:t>
            </a:r>
            <a:endParaRPr lang="fr-FR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6452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observable. Quelle condition observable permettrait de</a:t>
            </a:r>
            <a:endParaRPr lang="fr-FR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29609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« fast » ? Convenez d’une attente mesurable.</a:t>
            </a:r>
            <a:endParaRPr lang="fr-FR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27660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intuitive » est subjectif et ne définit pas de seuil</a:t>
            </a:r>
            <a:endParaRPr lang="fr-FR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59228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observable. Quelle condition observable permettrait de</a:t>
            </a:r>
            <a:endParaRPr lang="fr-FR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39079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« intuitive » ? Convenez d’une attente</a:t>
            </a:r>
            <a:endParaRPr lang="fr-FR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2236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mesurable.</a:t>
            </a:r>
            <a:endParaRPr lang="fr-FR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45393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critère d’acceptation n’est renseigné. Étant</a:t>
            </a:r>
            <a:endParaRPr lang="fr-FR" sz="1714" dirty="0"/>
          </a:p>
        </p:txBody>
      </p:sp>
      <p:sp>
        <p:nvSpPr>
          <p:cNvPr id="17" name="Text 15"/>
          <p:cNvSpPr/>
          <p:nvPr/>
        </p:nvSpPr>
        <p:spPr>
          <a:xfrm>
            <a:off x="696686" y="485502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 [le contexte confirmé], quand [l’action demandée</a:t>
            </a:r>
            <a:endParaRPr lang="fr-FR" sz="1714" dirty="0"/>
          </a:p>
        </p:txBody>
      </p:sp>
      <p:sp>
        <p:nvSpPr>
          <p:cNvPr id="18" name="Text 16"/>
          <p:cNvSpPr/>
          <p:nvPr/>
        </p:nvSpPr>
        <p:spPr>
          <a:xfrm>
            <a:off x="696686" y="51707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lieu], alors [un résultat observable]. Remplacez</a:t>
            </a:r>
            <a:endParaRPr lang="fr-FR" sz="1714" dirty="0"/>
          </a:p>
        </p:txBody>
      </p:sp>
      <p:sp>
        <p:nvSpPr>
          <p:cNvPr id="19" name="Text 17"/>
          <p:cNvSpPr/>
          <p:nvPr/>
        </p:nvSpPr>
        <p:spPr>
          <a:xfrm>
            <a:off x="696686" y="548640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champ par un fait convenu.</a:t>
            </a:r>
            <a:endParaRPr lang="fr-FR" sz="1714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21</a:t>
            </a:r>
            <a:endParaRPr lang="fr-FR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Refinement des stories (suite)</a:t>
            </a:r>
            <a:endParaRPr lang="fr-FR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condition d’erreur n’est mentionnée dans la</a:t>
            </a:r>
            <a:endParaRPr lang="fr-FR" sz="1714" dirty="0"/>
          </a:p>
        </p:txBody>
      </p:sp>
      <p:sp>
        <p:nvSpPr>
          <p:cNvPr id="7" name="Text 5"/>
          <p:cNvSpPr/>
          <p:nvPr/>
        </p:nvSpPr>
        <p:spPr>
          <a:xfrm>
            <a:off x="696686" y="15893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ou les critères. Quelles conditions d’échec sont</a:t>
            </a:r>
            <a:endParaRPr lang="fr-FR" sz="1714" dirty="0"/>
          </a:p>
        </p:txBody>
      </p:sp>
      <p:sp>
        <p:nvSpPr>
          <p:cNvPr id="8" name="Text 6"/>
          <p:cNvSpPr/>
          <p:nvPr/>
        </p:nvSpPr>
        <p:spPr>
          <a:xfrm>
            <a:off x="696686" y="190500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pertinentes, et quel retour faut-il donner à</a:t>
            </a:r>
            <a:endParaRPr lang="fr-FR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22068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l’utilisateur ?</a:t>
            </a:r>
            <a:endParaRPr lang="fr-FR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5363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règle métier n’est renseignée. Elles ne sont</a:t>
            </a:r>
            <a:endParaRPr lang="fr-FR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28520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peut-être pas nécessaires ; confirmez-le en équipe.</a:t>
            </a:r>
            <a:endParaRPr lang="fr-FR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1677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Faut-il confirmer des règles d’éligibilité, de droits</a:t>
            </a:r>
            <a:endParaRPr lang="fr-FR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48342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de traitement des données ?</a:t>
            </a:r>
            <a:endParaRPr lang="fr-FR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39079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Dépendances</a:t>
            </a:r>
            <a:endParaRPr lang="fr-FR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2236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overview</a:t>
            </a:r>
            <a:endParaRPr lang="fr-FR" sz="1714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22</a:t>
            </a:r>
            <a:endParaRPr lang="fr-FR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 renseignées</a:t>
            </a:r>
            <a:endParaRPr lang="fr-FR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data exports self-service → Self-service</a:t>
            </a:r>
            <a:endParaRPr lang="fr-FR" sz="1971" dirty="0"/>
          </a:p>
        </p:txBody>
      </p:sp>
      <p:sp>
        <p:nvSpPr>
          <p:cNvPr id="7" name="Text 5"/>
          <p:cNvSpPr/>
          <p:nvPr/>
        </p:nvSpPr>
        <p:spPr>
          <a:xfrm>
            <a:off x="696686" y="1636667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CSV export</a:t>
            </a:r>
            <a:endParaRPr lang="fr-FR" sz="1971" dirty="0"/>
          </a:p>
        </p:txBody>
      </p:sp>
      <p:sp>
        <p:nvSpPr>
          <p:cNvPr id="8" name="Text 6"/>
          <p:cNvSpPr/>
          <p:nvPr/>
        </p:nvSpPr>
        <p:spPr>
          <a:xfrm>
            <a:off x="696686" y="2097677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972cd581-c94a-4e2c-aea4-8d04d1b47515, 738b066a-a2c2-4b26-a44e-6eed637dd041,</a:t>
            </a:r>
            <a:endParaRPr lang="fr-FR" sz="857" dirty="0"/>
          </a:p>
        </p:txBody>
      </p:sp>
      <p:sp>
        <p:nvSpPr>
          <p:cNvPr id="9" name="Text 7"/>
          <p:cNvSpPr/>
          <p:nvPr/>
        </p:nvSpPr>
        <p:spPr>
          <a:xfrm>
            <a:off x="696686" y="2255520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457abfc4-6b5d-4fb7-8fa8-9fe59830a11c</a:t>
            </a:r>
            <a:endParaRPr lang="fr-FR" sz="857" dirty="0"/>
          </a:p>
        </p:txBody>
      </p:sp>
      <p:sp>
        <p:nvSpPr>
          <p:cNvPr id="10" name="Text 8"/>
          <p:cNvSpPr/>
          <p:nvPr/>
        </p:nvSpPr>
        <p:spPr>
          <a:xfrm>
            <a:off x="696686" y="252222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</a:t>
            </a:r>
            <a:endParaRPr lang="fr-FR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283790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informs</a:t>
            </a:r>
            <a:endParaRPr lang="fr-FR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26244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de la relation</a:t>
            </a:r>
            <a:endParaRPr lang="fr-FR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57813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provides the rationale for this scope</a:t>
            </a:r>
            <a:endParaRPr lang="fr-FR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389382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addition.</a:t>
            </a:r>
            <a:endParaRPr lang="fr-FR" sz="1714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23</a:t>
            </a:r>
            <a:endParaRPr lang="fr-FR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 renseignées (suite)</a:t>
            </a:r>
            <a:endParaRPr lang="fr-FR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Self-service CSV export → Export account</a:t>
            </a:r>
            <a:endParaRPr lang="fr-FR" sz="1971" dirty="0"/>
          </a:p>
        </p:txBody>
      </p:sp>
      <p:sp>
        <p:nvSpPr>
          <p:cNvPr id="7" name="Text 5"/>
          <p:cNvSpPr/>
          <p:nvPr/>
        </p:nvSpPr>
        <p:spPr>
          <a:xfrm>
            <a:off x="696686" y="1636667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records</a:t>
            </a:r>
            <a:endParaRPr lang="fr-FR" sz="1971" dirty="0"/>
          </a:p>
        </p:txBody>
      </p:sp>
      <p:sp>
        <p:nvSpPr>
          <p:cNvPr id="8" name="Text 6"/>
          <p:cNvSpPr/>
          <p:nvPr/>
        </p:nvSpPr>
        <p:spPr>
          <a:xfrm>
            <a:off x="696686" y="2097677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4929ae7b-a719-4250-9325-7f89b6193c9e, 457abfc4-6b5d-4fb7-8fa8-9fe59830a11c,</a:t>
            </a:r>
            <a:endParaRPr lang="fr-FR" sz="857" dirty="0"/>
          </a:p>
        </p:txBody>
      </p:sp>
      <p:sp>
        <p:nvSpPr>
          <p:cNvPr id="9" name="Text 7"/>
          <p:cNvSpPr/>
          <p:nvPr/>
        </p:nvSpPr>
        <p:spPr>
          <a:xfrm>
            <a:off x="696686" y="2255520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d149221e-de7d-4a9f-9ea1-6b08873731b0</a:t>
            </a:r>
            <a:endParaRPr lang="fr-FR" sz="857" dirty="0"/>
          </a:p>
        </p:txBody>
      </p:sp>
      <p:sp>
        <p:nvSpPr>
          <p:cNvPr id="10" name="Text 8"/>
          <p:cNvSpPr/>
          <p:nvPr/>
        </p:nvSpPr>
        <p:spPr>
          <a:xfrm>
            <a:off x="696686" y="252222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</a:t>
            </a:r>
            <a:endParaRPr lang="fr-FR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283790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affects</a:t>
            </a:r>
            <a:endParaRPr lang="fr-FR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26244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de la relation</a:t>
            </a:r>
            <a:endParaRPr lang="fr-FR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57813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 describes the export behavior introduced by</a:t>
            </a:r>
            <a:endParaRPr lang="fr-FR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389382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change.</a:t>
            </a:r>
            <a:endParaRPr lang="fr-FR" sz="1714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24</a:t>
            </a:r>
            <a:endParaRPr lang="fr-FR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Points d’attention</a:t>
            </a:r>
            <a:endParaRPr lang="fr-FR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data exports self-service</a:t>
            </a:r>
            <a:endParaRPr lang="fr-FR" sz="1971" dirty="0"/>
          </a:p>
        </p:txBody>
      </p:sp>
      <p:sp>
        <p:nvSpPr>
          <p:cNvPr id="7" name="Text 5"/>
          <p:cNvSpPr/>
          <p:nvPr/>
        </p:nvSpPr>
        <p:spPr>
          <a:xfrm>
            <a:off x="696686" y="1734639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738b066a-a2c2-4b26-a44e-6eed637dd041</a:t>
            </a:r>
            <a:endParaRPr lang="fr-FR" sz="857" dirty="0"/>
          </a:p>
        </p:txBody>
      </p:sp>
      <p:sp>
        <p:nvSpPr>
          <p:cNvPr id="8" name="Text 6"/>
          <p:cNvSpPr/>
          <p:nvPr/>
        </p:nvSpPr>
        <p:spPr>
          <a:xfrm>
            <a:off x="696686" y="200133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d’attention</a:t>
            </a:r>
            <a:endParaRPr lang="fr-FR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170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hypothèses renseignées n’ont pas été vérifiées.</a:t>
            </a:r>
            <a:endParaRPr lang="fr-FR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981053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data exports self-service</a:t>
            </a:r>
            <a:endParaRPr lang="fr-FR" sz="1971" dirty="0"/>
          </a:p>
        </p:txBody>
      </p:sp>
      <p:sp>
        <p:nvSpPr>
          <p:cNvPr id="11" name="Text 9"/>
          <p:cNvSpPr/>
          <p:nvPr/>
        </p:nvSpPr>
        <p:spPr>
          <a:xfrm>
            <a:off x="696686" y="3442063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738b066a-a2c2-4b26-a44e-6eed637dd041</a:t>
            </a:r>
            <a:endParaRPr lang="fr-FR" sz="857" dirty="0"/>
          </a:p>
        </p:txBody>
      </p:sp>
      <p:sp>
        <p:nvSpPr>
          <p:cNvPr id="12" name="Text 10"/>
          <p:cNvSpPr/>
          <p:nvPr/>
        </p:nvSpPr>
        <p:spPr>
          <a:xfrm>
            <a:off x="696686" y="370876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d’attention</a:t>
            </a:r>
            <a:endParaRPr lang="fr-FR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402444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exports may require a later asynchronous</a:t>
            </a:r>
            <a:endParaRPr lang="fr-FR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34013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workflow.</a:t>
            </a:r>
            <a:endParaRPr lang="fr-FR" sz="1714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25</a:t>
            </a:r>
            <a:endParaRPr lang="fr-FR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Points d’attention (suite)</a:t>
            </a:r>
            <a:endParaRPr lang="fr-FR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the first release focused on desktop</a:t>
            </a:r>
            <a:endParaRPr lang="fr-FR" sz="1971" dirty="0"/>
          </a:p>
        </p:txBody>
      </p:sp>
      <p:sp>
        <p:nvSpPr>
          <p:cNvPr id="7" name="Text 5"/>
          <p:cNvSpPr/>
          <p:nvPr/>
        </p:nvSpPr>
        <p:spPr>
          <a:xfrm>
            <a:off x="696686" y="1636667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workflows</a:t>
            </a:r>
            <a:endParaRPr lang="fr-FR" sz="1971" dirty="0"/>
          </a:p>
        </p:txBody>
      </p:sp>
      <p:sp>
        <p:nvSpPr>
          <p:cNvPr id="8" name="Text 6"/>
          <p:cNvSpPr/>
          <p:nvPr/>
        </p:nvSpPr>
        <p:spPr>
          <a:xfrm>
            <a:off x="696686" y="2097677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39be1c40-2325-4913-b3d6-df76cd762673</a:t>
            </a:r>
            <a:endParaRPr lang="fr-FR" sz="857" dirty="0"/>
          </a:p>
        </p:txBody>
      </p:sp>
      <p:sp>
        <p:nvSpPr>
          <p:cNvPr id="9" name="Text 7"/>
          <p:cNvSpPr/>
          <p:nvPr/>
        </p:nvSpPr>
        <p:spPr>
          <a:xfrm>
            <a:off x="696686" y="236437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d’attention</a:t>
            </a:r>
            <a:endParaRPr lang="fr-FR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68006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hypothèses renseignées n’ont pas été vérifiées.</a:t>
            </a:r>
            <a:endParaRPr lang="fr-FR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344091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the first release focused on desktop</a:t>
            </a:r>
            <a:endParaRPr lang="fr-FR" sz="1971" dirty="0"/>
          </a:p>
        </p:txBody>
      </p:sp>
      <p:sp>
        <p:nvSpPr>
          <p:cNvPr id="12" name="Text 10"/>
          <p:cNvSpPr/>
          <p:nvPr/>
        </p:nvSpPr>
        <p:spPr>
          <a:xfrm>
            <a:off x="696686" y="3707130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workflows</a:t>
            </a:r>
            <a:endParaRPr lang="fr-FR" sz="1971" dirty="0"/>
          </a:p>
        </p:txBody>
      </p:sp>
      <p:sp>
        <p:nvSpPr>
          <p:cNvPr id="13" name="Text 11"/>
          <p:cNvSpPr/>
          <p:nvPr/>
        </p:nvSpPr>
        <p:spPr>
          <a:xfrm>
            <a:off x="696686" y="4168140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39be1c40-2325-4913-b3d6-df76cd762673</a:t>
            </a:r>
            <a:endParaRPr lang="fr-FR" sz="857" dirty="0"/>
          </a:p>
        </p:txBody>
      </p:sp>
      <p:sp>
        <p:nvSpPr>
          <p:cNvPr id="14" name="Text 12"/>
          <p:cNvSpPr/>
          <p:nvPr/>
        </p:nvSpPr>
        <p:spPr>
          <a:xfrm>
            <a:off x="696686" y="443484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d’attention</a:t>
            </a:r>
            <a:endParaRPr lang="fr-FR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75052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exports may require a later asynchronous</a:t>
            </a:r>
            <a:endParaRPr lang="fr-FR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506621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workflow.</a:t>
            </a:r>
            <a:endParaRPr lang="fr-FR" sz="1714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26</a:t>
            </a:r>
            <a:endParaRPr lang="fr-FR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Points d’attention (suite)</a:t>
            </a:r>
            <a:endParaRPr lang="fr-FR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Self-service CSV export</a:t>
            </a:r>
            <a:endParaRPr lang="fr-FR" sz="1971" dirty="0"/>
          </a:p>
        </p:txBody>
      </p:sp>
      <p:sp>
        <p:nvSpPr>
          <p:cNvPr id="7" name="Text 5"/>
          <p:cNvSpPr/>
          <p:nvPr/>
        </p:nvSpPr>
        <p:spPr>
          <a:xfrm>
            <a:off x="696686" y="1734639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457abfc4-6b5d-4fb7-8fa8-9fe59830a11c</a:t>
            </a:r>
            <a:endParaRPr lang="fr-FR" sz="857" dirty="0"/>
          </a:p>
        </p:txBody>
      </p:sp>
      <p:sp>
        <p:nvSpPr>
          <p:cNvPr id="8" name="Text 6"/>
          <p:cNvSpPr/>
          <p:nvPr/>
        </p:nvSpPr>
        <p:spPr>
          <a:xfrm>
            <a:off x="696686" y="200133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 connus</a:t>
            </a:r>
            <a:endParaRPr lang="fr-FR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170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maximum supported export size.</a:t>
            </a:r>
            <a:endParaRPr lang="fr-FR" sz="1714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27</a:t>
            </a:r>
            <a:endParaRPr lang="fr-FR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Arbitrages et prochaines actions</a:t>
            </a:r>
            <a:endParaRPr lang="fr-FR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the first release focused on desktop</a:t>
            </a:r>
            <a:endParaRPr lang="fr-FR" sz="1971" dirty="0"/>
          </a:p>
        </p:txBody>
      </p:sp>
      <p:sp>
        <p:nvSpPr>
          <p:cNvPr id="7" name="Text 5"/>
          <p:cNvSpPr/>
          <p:nvPr/>
        </p:nvSpPr>
        <p:spPr>
          <a:xfrm>
            <a:off x="696686" y="1636667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workflows</a:t>
            </a:r>
            <a:endParaRPr lang="fr-FR" sz="1971" dirty="0"/>
          </a:p>
        </p:txBody>
      </p:sp>
      <p:sp>
        <p:nvSpPr>
          <p:cNvPr id="8" name="Text 6"/>
          <p:cNvSpPr/>
          <p:nvPr/>
        </p:nvSpPr>
        <p:spPr>
          <a:xfrm>
            <a:off x="696686" y="2097677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39be1c40-2325-4913-b3d6-df76cd762673</a:t>
            </a:r>
            <a:endParaRPr lang="fr-FR" sz="857" dirty="0"/>
          </a:p>
        </p:txBody>
      </p:sp>
      <p:sp>
        <p:nvSpPr>
          <p:cNvPr id="9" name="Text 7"/>
          <p:cNvSpPr/>
          <p:nvPr/>
        </p:nvSpPr>
        <p:spPr>
          <a:xfrm>
            <a:off x="696686" y="236437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Arbitrage attendu</a:t>
            </a:r>
            <a:endParaRPr lang="fr-FR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68006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 la décision proposée avec le responsable</a:t>
            </a:r>
            <a:endParaRPr lang="fr-FR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299574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renseigné.</a:t>
            </a:r>
            <a:endParaRPr lang="fr-FR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42029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</a:t>
            </a:r>
            <a:endParaRPr lang="fr-FR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73597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Morgan (fictional)</a:t>
            </a:r>
            <a:endParaRPr lang="fr-FR" sz="1714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28</a:t>
            </a:r>
            <a:endParaRPr lang="fr-FR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Arbitrages et prochaines actions (suite)</a:t>
            </a:r>
            <a:endParaRPr lang="fr-FR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Saved export presets</a:t>
            </a:r>
            <a:endParaRPr lang="fr-FR" sz="1971" dirty="0"/>
          </a:p>
        </p:txBody>
      </p:sp>
      <p:sp>
        <p:nvSpPr>
          <p:cNvPr id="7" name="Text 5"/>
          <p:cNvSpPr/>
          <p:nvPr/>
        </p:nvSpPr>
        <p:spPr>
          <a:xfrm>
            <a:off x="696686" y="1734639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3da8f527-d53b-4dc7-8fca-ca56bd6f6283</a:t>
            </a:r>
            <a:endParaRPr lang="fr-FR" sz="857" dirty="0"/>
          </a:p>
        </p:txBody>
      </p:sp>
      <p:sp>
        <p:nvSpPr>
          <p:cNvPr id="8" name="Text 6"/>
          <p:cNvSpPr/>
          <p:nvPr/>
        </p:nvSpPr>
        <p:spPr>
          <a:xfrm>
            <a:off x="696686" y="200133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Arbitrage attendu</a:t>
            </a:r>
            <a:endParaRPr lang="fr-FR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170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Accepter ou rejeter explicitement cette proposition</a:t>
            </a:r>
            <a:endParaRPr lang="fr-FR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63271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fr-FR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examen des impacts.</a:t>
            </a:r>
            <a:endParaRPr lang="fr-FR" sz="171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Synthèse du projet Atlas</dc:title>
  <dc:subject>Atlas customer portal</dc:subject>
  <dc:creator>Atlas Example</dc:creator>
  <cp:lastModifiedBy>Atlas Example</cp:lastModifiedBy>
  <cp:revision>1</cp:revision>
  <dcterms:created xsi:type="dcterms:W3CDTF">2026-10-15T15:18:33Z</dcterms:created>
  <dcterms:modified xsi:type="dcterms:W3CDTF">2026-10-15T15:18:33Z</dcterms:modified>
</cp:coreProperties>
</file>